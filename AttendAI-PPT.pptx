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59" r:id="rId9"/>
    <p:sldId id="268" r:id="rId10"/>
    <p:sldId id="260" r:id="rId11"/>
    <p:sldId id="269" r:id="rId12"/>
    <p:sldId id="270" r:id="rId13"/>
    <p:sldId id="267" r:id="rId14"/>
  </p:sldIdLst>
  <p:sldSz cx="12188825" cy="6858000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8900"/>
    <a:srgbClr val="0000CC"/>
    <a:srgbClr val="00007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9801" autoAdjust="0"/>
    <p:restoredTop sz="94660"/>
  </p:normalViewPr>
  <p:slideViewPr>
    <p:cSldViewPr>
      <p:cViewPr varScale="1">
        <p:scale>
          <a:sx n="85" d="100"/>
          <a:sy n="85" d="100"/>
        </p:scale>
        <p:origin x="115" y="67"/>
      </p:cViewPr>
      <p:guideLst>
        <p:guide orient="horz" pos="2160"/>
        <p:guide pos="2880"/>
        <p:guide pos="3839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usubham38632@gmail.com" userId="919f6eb534a175a6" providerId="LiveId" clId="{BE0E7FA8-1609-44FE-894C-96CEFC50F74B}"/>
    <pc:docChg chg="custSel modSld">
      <pc:chgData name="sahusubham38632@gmail.com" userId="919f6eb534a175a6" providerId="LiveId" clId="{BE0E7FA8-1609-44FE-894C-96CEFC50F74B}" dt="2026-05-07T12:10:23.678" v="5" actId="1076"/>
      <pc:docMkLst>
        <pc:docMk/>
      </pc:docMkLst>
      <pc:sldChg chg="modSp mod">
        <pc:chgData name="sahusubham38632@gmail.com" userId="919f6eb534a175a6" providerId="LiveId" clId="{BE0E7FA8-1609-44FE-894C-96CEFC50F74B}" dt="2026-05-07T12:08:38.709" v="0" actId="20577"/>
        <pc:sldMkLst>
          <pc:docMk/>
          <pc:sldMk cId="0" sldId="259"/>
        </pc:sldMkLst>
        <pc:spChg chg="mod">
          <ac:chgData name="sahusubham38632@gmail.com" userId="919f6eb534a175a6" providerId="LiveId" clId="{BE0E7FA8-1609-44FE-894C-96CEFC50F74B}" dt="2026-05-07T12:08:38.709" v="0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ahusubham38632@gmail.com" userId="919f6eb534a175a6" providerId="LiveId" clId="{BE0E7FA8-1609-44FE-894C-96CEFC50F74B}" dt="2026-05-07T12:08:52.623" v="1" actId="2711"/>
        <pc:sldMkLst>
          <pc:docMk/>
          <pc:sldMk cId="4215368575" sldId="267"/>
        </pc:sldMkLst>
        <pc:spChg chg="mod">
          <ac:chgData name="sahusubham38632@gmail.com" userId="919f6eb534a175a6" providerId="LiveId" clId="{BE0E7FA8-1609-44FE-894C-96CEFC50F74B}" dt="2026-05-07T12:08:52.623" v="1" actId="2711"/>
          <ac:spMkLst>
            <pc:docMk/>
            <pc:sldMk cId="4215368575" sldId="267"/>
            <ac:spMk id="3" creationId="{00000000-0000-0000-0000-000000000000}"/>
          </ac:spMkLst>
        </pc:spChg>
      </pc:sldChg>
      <pc:sldChg chg="delSp modSp mod">
        <pc:chgData name="sahusubham38632@gmail.com" userId="919f6eb534a175a6" providerId="LiveId" clId="{BE0E7FA8-1609-44FE-894C-96CEFC50F74B}" dt="2026-05-07T12:10:14.537" v="4" actId="1076"/>
        <pc:sldMkLst>
          <pc:docMk/>
          <pc:sldMk cId="165580542" sldId="269"/>
        </pc:sldMkLst>
        <pc:spChg chg="del">
          <ac:chgData name="sahusubham38632@gmail.com" userId="919f6eb534a175a6" providerId="LiveId" clId="{BE0E7FA8-1609-44FE-894C-96CEFC50F74B}" dt="2026-05-07T12:10:04.857" v="2" actId="478"/>
          <ac:spMkLst>
            <pc:docMk/>
            <pc:sldMk cId="165580542" sldId="269"/>
            <ac:spMk id="3" creationId="{00000000-0000-0000-0000-000000000000}"/>
          </ac:spMkLst>
        </pc:spChg>
        <pc:spChg chg="del">
          <ac:chgData name="sahusubham38632@gmail.com" userId="919f6eb534a175a6" providerId="LiveId" clId="{BE0E7FA8-1609-44FE-894C-96CEFC50F74B}" dt="2026-05-07T12:10:08.182" v="3" actId="478"/>
          <ac:spMkLst>
            <pc:docMk/>
            <pc:sldMk cId="165580542" sldId="269"/>
            <ac:spMk id="4" creationId="{00000000-0000-0000-0000-000000000000}"/>
          </ac:spMkLst>
        </pc:spChg>
        <pc:spChg chg="mod">
          <ac:chgData name="sahusubham38632@gmail.com" userId="919f6eb534a175a6" providerId="LiveId" clId="{BE0E7FA8-1609-44FE-894C-96CEFC50F74B}" dt="2026-05-07T12:10:14.537" v="4" actId="1076"/>
          <ac:spMkLst>
            <pc:docMk/>
            <pc:sldMk cId="165580542" sldId="269"/>
            <ac:spMk id="5" creationId="{00000000-0000-0000-0000-000000000000}"/>
          </ac:spMkLst>
        </pc:spChg>
      </pc:sldChg>
      <pc:sldChg chg="modSp mod">
        <pc:chgData name="sahusubham38632@gmail.com" userId="919f6eb534a175a6" providerId="LiveId" clId="{BE0E7FA8-1609-44FE-894C-96CEFC50F74B}" dt="2026-05-07T12:10:23.678" v="5" actId="1076"/>
        <pc:sldMkLst>
          <pc:docMk/>
          <pc:sldMk cId="2038713308" sldId="270"/>
        </pc:sldMkLst>
        <pc:spChg chg="mod">
          <ac:chgData name="sahusubham38632@gmail.com" userId="919f6eb534a175a6" providerId="LiveId" clId="{BE0E7FA8-1609-44FE-894C-96CEFC50F74B}" dt="2026-05-07T12:10:23.678" v="5" actId="1076"/>
          <ac:spMkLst>
            <pc:docMk/>
            <pc:sldMk cId="2038713308" sldId="27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B-TECH PROJECT MID-SEM PRESENTATION 2011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6200" y="0"/>
            <a:ext cx="2970213" cy="4556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DejaVu Sans" charset="0"/>
                <a:cs typeface="DejaVu Sans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85800"/>
            <a:ext cx="6091237" cy="342741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3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5027613" cy="41132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8686800"/>
            <a:ext cx="2970213" cy="4556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BY KHUSHBU KHAN &amp; ISAN SAHOO 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70213" cy="4556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DejaVu Sans" charset="0"/>
                <a:cs typeface="DejaVu Sans" charset="0"/>
              </a:defRPr>
            </a:lvl1pPr>
          </a:lstStyle>
          <a:p>
            <a:fld id="{90173F01-018E-44DD-8CA5-6162639342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3310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hdr"/>
          </p:nvPr>
        </p:nvSpPr>
        <p:spPr>
          <a:ln/>
        </p:spPr>
        <p:txBody>
          <a:bodyPr/>
          <a:lstStyle/>
          <a:p>
            <a:r>
              <a:rPr lang="en-US"/>
              <a:t>B-TECH PROJECT MID-SEM PRESENTATION 2011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BY KHUSHBU KHAN &amp; ISAN SAHOO 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486F327-06FC-42EA-BF79-15D71132BE00}" type="slidenum">
              <a:rPr lang="en-US"/>
              <a:pPr/>
              <a:t>1</a:t>
            </a:fld>
            <a:endParaRPr lang="en-US"/>
          </a:p>
        </p:txBody>
      </p:sp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B-TECH PROJECT MID-SEM PRESENTATION 2011</a:t>
            </a:r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BY KHUSHBU KHAN &amp; ISAN SAHOO </a:t>
            </a:r>
          </a:p>
        </p:txBody>
      </p:sp>
      <p:sp>
        <p:nvSpPr>
          <p:cNvPr id="27651" name="Rectangle 3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Rectangle 4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8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hdr"/>
          </p:nvPr>
        </p:nvSpPr>
        <p:spPr>
          <a:ln/>
        </p:spPr>
        <p:txBody>
          <a:bodyPr/>
          <a:lstStyle/>
          <a:p>
            <a:r>
              <a:rPr lang="en-US"/>
              <a:t>B-TECH PROJECT MID-SEM PRESENTATION 2011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BY KHUSHBU KHAN &amp; ISAN SAHOO </a:t>
            </a: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D4EDF8B-684A-4260-8B04-CE71A75B3088}" type="slidenum">
              <a:rPr lang="en-US"/>
              <a:pPr/>
              <a:t>2</a:t>
            </a:fld>
            <a:endParaRPr lang="en-US"/>
          </a:p>
        </p:txBody>
      </p:sp>
      <p:sp>
        <p:nvSpPr>
          <p:cNvPr id="286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B-TECH PROJECT MID-SEM PRESENTATION 2011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BY KHUSHBU KHAN &amp; ISAN SAHOO 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86DAD62-B17A-4873-B6E3-9B274CD5C417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890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hdr"/>
          </p:nvPr>
        </p:nvSpPr>
        <p:spPr>
          <a:ln/>
        </p:spPr>
        <p:txBody>
          <a:bodyPr/>
          <a:lstStyle/>
          <a:p>
            <a:r>
              <a:rPr lang="en-US"/>
              <a:t>B-TECH PROJECT MID-SEM PRESENTATION 2011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BY KHUSHBU KHAN &amp; ISAN SAHOO </a:t>
            </a: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D4EDF8B-684A-4260-8B04-CE71A75B3088}" type="slidenum">
              <a:rPr lang="en-US"/>
              <a:pPr/>
              <a:t>3</a:t>
            </a:fld>
            <a:endParaRPr lang="en-US"/>
          </a:p>
        </p:txBody>
      </p:sp>
      <p:sp>
        <p:nvSpPr>
          <p:cNvPr id="286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B-TECH PROJECT MID-SEM PRESENTATION 2011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BY KHUSHBU KHAN &amp; ISAN SAHOO 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86DAD62-B17A-4873-B6E3-9B274CD5C417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890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hdr"/>
          </p:nvPr>
        </p:nvSpPr>
        <p:spPr>
          <a:ln/>
        </p:spPr>
        <p:txBody>
          <a:bodyPr/>
          <a:lstStyle/>
          <a:p>
            <a:r>
              <a:rPr lang="en-US"/>
              <a:t>B-TECH PROJECT MID-SEM PRESENTATION 2011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BY KHUSHBU KHAN &amp; ISAN SAHOO </a:t>
            </a: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D4EDF8B-684A-4260-8B04-CE71A75B3088}" type="slidenum">
              <a:rPr lang="en-US"/>
              <a:pPr/>
              <a:t>4</a:t>
            </a:fld>
            <a:endParaRPr lang="en-US"/>
          </a:p>
        </p:txBody>
      </p:sp>
      <p:sp>
        <p:nvSpPr>
          <p:cNvPr id="286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B-TECH PROJECT MID-SEM PRESENTATION 2011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BY KHUSHBU KHAN &amp; ISAN SAHOO 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86DAD62-B17A-4873-B6E3-9B274CD5C417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4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890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hdr"/>
          </p:nvPr>
        </p:nvSpPr>
        <p:spPr>
          <a:ln/>
        </p:spPr>
        <p:txBody>
          <a:bodyPr/>
          <a:lstStyle/>
          <a:p>
            <a:r>
              <a:rPr lang="en-US"/>
              <a:t>B-TECH PROJECT MID-SEM PRESENTATION 2011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BY KHUSHBU KHAN &amp; ISAN SAHOO </a:t>
            </a: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D4EDF8B-684A-4260-8B04-CE71A75B3088}" type="slidenum">
              <a:rPr lang="en-US"/>
              <a:pPr/>
              <a:t>5</a:t>
            </a:fld>
            <a:endParaRPr lang="en-US"/>
          </a:p>
        </p:txBody>
      </p:sp>
      <p:sp>
        <p:nvSpPr>
          <p:cNvPr id="286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B-TECH PROJECT MID-SEM PRESENTATION 2011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BY KHUSHBU KHAN &amp; ISAN SAHOO 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86DAD62-B17A-4873-B6E3-9B274CD5C417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5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890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hdr"/>
          </p:nvPr>
        </p:nvSpPr>
        <p:spPr>
          <a:ln/>
        </p:spPr>
        <p:txBody>
          <a:bodyPr/>
          <a:lstStyle/>
          <a:p>
            <a:r>
              <a:rPr lang="en-US"/>
              <a:t>B-TECH PROJECT MID-SEM PRESENTATION 2011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BY KHUSHBU KHAN &amp; ISAN SAHOO </a:t>
            </a: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D4EDF8B-684A-4260-8B04-CE71A75B3088}" type="slidenum">
              <a:rPr lang="en-US"/>
              <a:pPr/>
              <a:t>6</a:t>
            </a:fld>
            <a:endParaRPr lang="en-US"/>
          </a:p>
        </p:txBody>
      </p:sp>
      <p:sp>
        <p:nvSpPr>
          <p:cNvPr id="286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B-TECH PROJECT MID-SEM PRESENTATION 2011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t>BY KHUSHBU KHAN &amp; ISAN SAHOO 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86DAD62-B17A-4873-B6E3-9B274CD5C417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6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890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16" y="457200"/>
            <a:ext cx="10055781" cy="614346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2A7E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59" y="1117619"/>
            <a:ext cx="11212846" cy="5311781"/>
          </a:xfrm>
          <a:prstGeom prst="rect">
            <a:avLst/>
          </a:prstGeom>
        </p:spPr>
        <p:txBody>
          <a:bodyPr/>
          <a:lstStyle>
            <a:lvl1pPr marL="519113" indent="-519113">
              <a:lnSpc>
                <a:spcPct val="120000"/>
              </a:lnSpc>
              <a:buFont typeface="Wingdings" pitchFamily="2" charset="2"/>
              <a:buChar char="q"/>
              <a:defRPr sz="2600"/>
            </a:lvl1pPr>
            <a:lvl2pPr marL="1146175" indent="450850">
              <a:lnSpc>
                <a:spcPct val="120000"/>
              </a:lnSpc>
              <a:buFont typeface="Wingdings" pitchFamily="2" charset="2"/>
              <a:buChar char="v"/>
              <a:defRPr sz="2400"/>
            </a:lvl2pPr>
            <a:lvl3pPr marL="2116138" indent="-287338">
              <a:lnSpc>
                <a:spcPct val="120000"/>
              </a:lnSpc>
              <a:defRPr sz="2400"/>
            </a:lvl3pPr>
            <a:lvl4pPr>
              <a:lnSpc>
                <a:spcPct val="120000"/>
              </a:lnSpc>
              <a:defRPr sz="2400"/>
            </a:lvl4pPr>
            <a:lvl5pPr>
              <a:lnSpc>
                <a:spcPct val="120000"/>
              </a:lnSpc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702550" y="1088408"/>
            <a:ext cx="11457496" cy="1588"/>
          </a:xfrm>
          <a:prstGeom prst="line">
            <a:avLst/>
          </a:prstGeom>
          <a:noFill/>
          <a:ln w="34925" cap="sq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Google Shape;14;p17"/>
          <p:cNvSpPr txBox="1">
            <a:spLocks noChangeArrowheads="1"/>
          </p:cNvSpPr>
          <p:nvPr userDrawn="1"/>
        </p:nvSpPr>
        <p:spPr bwMode="auto">
          <a:xfrm>
            <a:off x="11162479" y="6438900"/>
            <a:ext cx="914162" cy="419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/>
          <a:p>
            <a:pPr algn="ctr" eaLnBrk="1" hangingPunct="1">
              <a:buClr>
                <a:srgbClr val="0D0D0D"/>
              </a:buClr>
              <a:buSzPts val="2000"/>
              <a:buFont typeface="Calibri" pitchFamily="34" charset="0"/>
              <a:buNone/>
              <a:defRPr/>
            </a:pPr>
            <a:fld id="{E272016D-8C43-44D8-986D-350DDA9DFE98}" type="slidenum">
              <a:rPr lang="en-US" altLang="en-US" sz="2400" b="1">
                <a:solidFill>
                  <a:srgbClr val="0D0D0D"/>
                </a:solidFill>
                <a:latin typeface="+mn-lt"/>
                <a:cs typeface="Calibri" pitchFamily="34" charset="0"/>
                <a:sym typeface="Calibri" pitchFamily="34" charset="0"/>
              </a:rPr>
              <a:pPr algn="ctr" eaLnBrk="1" hangingPunct="1">
                <a:buClr>
                  <a:srgbClr val="0D0D0D"/>
                </a:buClr>
                <a:buSzPts val="2000"/>
                <a:buFont typeface="Calibri" pitchFamily="34" charset="0"/>
                <a:buNone/>
                <a:defRPr/>
              </a:pPr>
              <a:t>‹#›</a:t>
            </a:fld>
            <a:endParaRPr lang="en-US" altLang="en-US" b="1" dirty="0">
              <a:latin typeface="+mn-lt"/>
              <a:cs typeface="Arial" charset="0"/>
              <a:sym typeface="Arial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ChangeArrowheads="1"/>
          </p:cNvSpPr>
          <p:nvPr userDrawn="1"/>
        </p:nvSpPr>
        <p:spPr bwMode="auto">
          <a:xfrm>
            <a:off x="10563648" y="6324600"/>
            <a:ext cx="1320456" cy="533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1" dirty="0">
              <a:solidFill>
                <a:schemeClr val="tx1"/>
              </a:solidFill>
              <a:latin typeface="Arial" charset="0"/>
              <a:ea typeface="DejaVu Sans" charset="0"/>
              <a:cs typeface="DejaVu Sans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EB0C0-2C5D-257F-EF24-7156F34C40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113213" y="228600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Google Shape;14;p17"/>
          <p:cNvSpPr txBox="1">
            <a:spLocks noChangeArrowheads="1"/>
          </p:cNvSpPr>
          <p:nvPr userDrawn="1"/>
        </p:nvSpPr>
        <p:spPr bwMode="auto">
          <a:xfrm>
            <a:off x="11162479" y="6438900"/>
            <a:ext cx="914162" cy="419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/>
          <a:p>
            <a:pPr algn="ctr" eaLnBrk="1" hangingPunct="1">
              <a:buClr>
                <a:srgbClr val="0D0D0D"/>
              </a:buClr>
              <a:buSzPts val="2000"/>
              <a:buFont typeface="Calibri" pitchFamily="34" charset="0"/>
              <a:buNone/>
              <a:defRPr/>
            </a:pPr>
            <a:fld id="{E272016D-8C43-44D8-986D-350DDA9DFE98}" type="slidenum">
              <a:rPr lang="en-US" altLang="en-US" sz="2400" b="1">
                <a:solidFill>
                  <a:srgbClr val="0D0D0D"/>
                </a:solidFill>
                <a:latin typeface="+mn-lt"/>
                <a:cs typeface="Calibri" pitchFamily="34" charset="0"/>
                <a:sym typeface="Calibri" pitchFamily="34" charset="0"/>
              </a:rPr>
              <a:pPr algn="ctr" eaLnBrk="1" hangingPunct="1">
                <a:buClr>
                  <a:srgbClr val="0D0D0D"/>
                </a:buClr>
                <a:buSzPts val="2000"/>
                <a:buFont typeface="Calibri" pitchFamily="34" charset="0"/>
                <a:buNone/>
                <a:defRPr/>
              </a:pPr>
              <a:t>‹#›</a:t>
            </a:fld>
            <a:endParaRPr lang="en-US" altLang="en-US" b="1" dirty="0">
              <a:latin typeface="+mn-lt"/>
              <a:cs typeface="Arial" charset="0"/>
              <a:sym typeface="Arial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760412" y="6457890"/>
            <a:ext cx="1036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FF0000"/>
                </a:solidFill>
                <a:latin typeface="Arial" charset="0"/>
                <a:ea typeface="DejaVu Sans" charset="0"/>
                <a:cs typeface="DejaVu Sans" charset="0"/>
              </a:rPr>
              <a:t>Student 1 (Roll#ECE2018XXXXX)       &amp;        Student 2 (Roll#ECE2018XXXXX)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7"/>
          <p:cNvSpPr txBox="1">
            <a:spLocks noChangeArrowheads="1"/>
          </p:cNvSpPr>
          <p:nvPr/>
        </p:nvSpPr>
        <p:spPr bwMode="auto">
          <a:xfrm>
            <a:off x="11364492" y="6438900"/>
            <a:ext cx="558654" cy="4191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7" name="Google Shape;7;p17"/>
          <p:cNvSpPr txBox="1">
            <a:spLocks noChangeArrowheads="1"/>
          </p:cNvSpPr>
          <p:nvPr/>
        </p:nvSpPr>
        <p:spPr bwMode="auto">
          <a:xfrm>
            <a:off x="4164515" y="6248400"/>
            <a:ext cx="3859795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8" name="Google Shape;8;p17"/>
          <p:cNvSpPr txBox="1">
            <a:spLocks noChangeArrowheads="1"/>
          </p:cNvSpPr>
          <p:nvPr/>
        </p:nvSpPr>
        <p:spPr bwMode="auto">
          <a:xfrm>
            <a:off x="8735324" y="6248400"/>
            <a:ext cx="253933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9" name="Google Shape;9;p17"/>
          <p:cNvSpPr txBox="1">
            <a:spLocks noChangeArrowheads="1"/>
          </p:cNvSpPr>
          <p:nvPr/>
        </p:nvSpPr>
        <p:spPr bwMode="auto">
          <a:xfrm>
            <a:off x="0" y="733427"/>
            <a:ext cx="711015" cy="6124575"/>
          </a:xfrm>
          <a:prstGeom prst="rect">
            <a:avLst/>
          </a:prstGeom>
          <a:solidFill>
            <a:srgbClr val="2E4698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30" name="Google Shape;10;p17"/>
          <p:cNvSpPr txBox="1">
            <a:spLocks noChangeArrowheads="1"/>
          </p:cNvSpPr>
          <p:nvPr/>
        </p:nvSpPr>
        <p:spPr bwMode="auto">
          <a:xfrm rot="-5400000">
            <a:off x="-2976831" y="3508643"/>
            <a:ext cx="6567487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Clr>
                <a:srgbClr val="FFFFFF"/>
              </a:buClr>
              <a:buSzPts val="2300"/>
              <a:defRPr/>
            </a:pPr>
            <a:r>
              <a:rPr lang="en-US" sz="4400" b="1" dirty="0">
                <a:solidFill>
                  <a:srgbClr val="FFFFFF"/>
                </a:solidFill>
              </a:rPr>
              <a:t>NIST University</a:t>
            </a:r>
            <a:endParaRPr lang="en-US" sz="3200" dirty="0"/>
          </a:p>
        </p:txBody>
      </p:sp>
      <p:sp>
        <p:nvSpPr>
          <p:cNvPr id="1031" name="Google Shape;11;p17"/>
          <p:cNvSpPr txBox="1">
            <a:spLocks noChangeArrowheads="1"/>
          </p:cNvSpPr>
          <p:nvPr/>
        </p:nvSpPr>
        <p:spPr bwMode="auto">
          <a:xfrm>
            <a:off x="761802" y="76202"/>
            <a:ext cx="10179574" cy="64611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D43A2A"/>
              </a:buClr>
              <a:buSzPts val="3600"/>
              <a:defRPr/>
            </a:pPr>
            <a:r>
              <a:rPr lang="en-US" sz="3600" b="1">
                <a:solidFill>
                  <a:srgbClr val="D43A2A"/>
                </a:solidFill>
              </a:rPr>
              <a:t> </a:t>
            </a:r>
            <a:endParaRPr lang="en-US"/>
          </a:p>
        </p:txBody>
      </p:sp>
      <p:pic>
        <p:nvPicPr>
          <p:cNvPr id="68616" name="Google Shape;12;p17"/>
          <p:cNvPicPr preferRelativeResize="0"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820914" y="40945"/>
            <a:ext cx="1369498" cy="873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Google Shape;13;p17"/>
          <p:cNvSpPr txBox="1">
            <a:spLocks noChangeArrowheads="1"/>
          </p:cNvSpPr>
          <p:nvPr/>
        </p:nvSpPr>
        <p:spPr bwMode="auto">
          <a:xfrm>
            <a:off x="0" y="2"/>
            <a:ext cx="711015" cy="733425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68619" name="Google Shape;15;p17"/>
          <p:cNvCxnSpPr>
            <a:cxnSpLocks noChangeShapeType="1"/>
          </p:cNvCxnSpPr>
          <p:nvPr/>
        </p:nvCxnSpPr>
        <p:spPr bwMode="auto">
          <a:xfrm>
            <a:off x="679928" y="6463352"/>
            <a:ext cx="1069848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711063" y="2"/>
            <a:ext cx="3374876" cy="3715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charset="0"/>
                <a:ea typeface="DejaVu Sans" charset="0"/>
                <a:cs typeface="DejaVu Sans" charset="0"/>
              </a:rPr>
              <a:t>PAPER PRESENTATION 2024</a:t>
            </a:r>
          </a:p>
        </p:txBody>
      </p:sp>
      <p:sp>
        <p:nvSpPr>
          <p:cNvPr id="16" name="Line 8"/>
          <p:cNvSpPr>
            <a:spLocks noChangeShapeType="1"/>
          </p:cNvSpPr>
          <p:nvPr/>
        </p:nvSpPr>
        <p:spPr bwMode="auto">
          <a:xfrm>
            <a:off x="702550" y="1088408"/>
            <a:ext cx="11457496" cy="1588"/>
          </a:xfrm>
          <a:prstGeom prst="line">
            <a:avLst/>
          </a:prstGeom>
          <a:noFill/>
          <a:ln w="34925" cap="sq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6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itchFamily="34" charset="0"/>
        <a:buChar char="»"/>
        <a:defRPr sz="1400">
          <a:solidFill>
            <a:srgbClr val="000000"/>
          </a:solidFill>
          <a:latin typeface="Arial"/>
          <a:ea typeface="Arial"/>
          <a:cs typeface="Arial"/>
          <a:sym typeface="Arial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431707" y="1295400"/>
            <a:ext cx="11477810" cy="1295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spcAft>
                <a:spcPts val="0"/>
              </a:spcAft>
            </a:pPr>
            <a:r>
              <a:rPr lang="en-IN" sz="4800" b="1" dirty="0">
                <a:solidFill>
                  <a:srgbClr val="1A56A0"/>
                </a:solidFill>
                <a:latin typeface="Arial"/>
                <a:ea typeface="Arial"/>
              </a:rPr>
              <a:t>ATTENDAI</a:t>
            </a:r>
            <a:endParaRPr lang="en-IN" sz="1800" dirty="0">
              <a:latin typeface="Arial"/>
              <a:ea typeface="Arial"/>
            </a:endParaRPr>
          </a:p>
          <a:p>
            <a:pPr algn="ctr">
              <a:spcAft>
                <a:spcPts val="1000"/>
              </a:spcAft>
            </a:pPr>
            <a:r>
              <a:rPr lang="en-IN" dirty="0">
                <a:solidFill>
                  <a:srgbClr val="2E75B6"/>
                </a:solidFill>
                <a:latin typeface="Arial"/>
                <a:ea typeface="Arial"/>
              </a:rPr>
              <a:t>AI-Powered Face Recognition Attendance System</a:t>
            </a:r>
            <a:endParaRPr lang="en-IN" sz="1800" dirty="0">
              <a:latin typeface="Arial"/>
              <a:ea typeface="Arial"/>
            </a:endParaRPr>
          </a:p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b="1" dirty="0">
              <a:solidFill>
                <a:schemeClr val="tx1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293812" y="5257800"/>
            <a:ext cx="3276600" cy="89941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ts val="5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1" dirty="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0412" y="1143796"/>
            <a:ext cx="1893013" cy="10668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065212" y="5490588"/>
            <a:ext cx="3733800" cy="66578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ts val="5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dirty="0">
              <a:solidFill>
                <a:srgbClr val="0000FF"/>
              </a:solidFill>
              <a:ea typeface="DejaVu Sans" charset="0"/>
              <a:cs typeface="DejaVu Sans" charset="0"/>
            </a:endParaRPr>
          </a:p>
          <a:p>
            <a:pPr algn="ctr" eaLnBrk="1" hangingPunct="1">
              <a:spcBef>
                <a:spcPts val="5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1" dirty="0">
              <a:solidFill>
                <a:srgbClr val="0000FF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-2211388" y="2210596"/>
            <a:ext cx="3276600" cy="89941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ts val="5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dirty="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4722812" y="4419600"/>
            <a:ext cx="3733800" cy="66578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ts val="5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dirty="0">
                <a:solidFill>
                  <a:srgbClr val="000000"/>
                </a:solidFill>
                <a:ea typeface="DejaVu Sans" charset="0"/>
                <a:cs typeface="DejaVu Sans" charset="0"/>
              </a:rPr>
              <a:t>                    </a:t>
            </a:r>
          </a:p>
          <a:p>
            <a:pPr algn="ctr">
              <a:spcBef>
                <a:spcPts val="5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dirty="0">
              <a:solidFill>
                <a:srgbClr val="0000FF"/>
              </a:solidFill>
              <a:ea typeface="DejaVu Sans" charset="0"/>
              <a:cs typeface="DejaVu Sans" charset="0"/>
            </a:endParaRPr>
          </a:p>
          <a:p>
            <a:pPr algn="ctr" eaLnBrk="1" hangingPunct="1">
              <a:spcBef>
                <a:spcPts val="50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1" dirty="0">
              <a:solidFill>
                <a:srgbClr val="0000FF"/>
              </a:solidFill>
              <a:ea typeface="DejaVu Sans" charset="0"/>
              <a:cs typeface="DejaVu Sans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12" y="2660301"/>
            <a:ext cx="7250987" cy="1371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5337106" y="3971396"/>
            <a:ext cx="206979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IN" sz="2200" b="1" dirty="0">
                <a:solidFill>
                  <a:srgbClr val="333333"/>
                </a:solidFill>
                <a:latin typeface="Arial"/>
                <a:ea typeface="Arial"/>
              </a:rPr>
              <a:t>Submitted by:</a:t>
            </a:r>
            <a:endParaRPr lang="en-IN" sz="2200" dirty="0">
              <a:latin typeface="Arial"/>
              <a:ea typeface="Arial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59004"/>
              </p:ext>
            </p:extLst>
          </p:nvPr>
        </p:nvGraphicFramePr>
        <p:xfrm>
          <a:off x="3503612" y="4591050"/>
          <a:ext cx="5715000" cy="1333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NAME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ROLL NO.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SUBHAM SAHU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202456503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SHAGUN PATRA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202457504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RAHUL KUMAR BEHERA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202456529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JAMMULA SAMARTH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202456569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JASMINE PADHY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202457578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PRIYANSHU PATTANAYAK</a:t>
                      </a:r>
                      <a:endParaRPr lang="en-IN" sz="120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202456589</a:t>
                      </a:r>
                      <a:endParaRPr lang="en-IN" sz="1200" dirty="0">
                        <a:effectLst/>
                        <a:latin typeface="Arial"/>
                        <a:ea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732176" y="1319213"/>
            <a:ext cx="10868369" cy="4724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marL="341313" indent="-341313" eaLnBrk="1" hangingPunct="1">
              <a:lnSpc>
                <a:spcPct val="150000"/>
              </a:lnSpc>
              <a:spcBef>
                <a:spcPts val="600"/>
              </a:spcBef>
              <a:buFont typeface="Times New Roman" pitchFamily="16" charset="0"/>
              <a:buBlip>
                <a:blip r:embed="rId3"/>
              </a:buBlip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8000" indent="-508000"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/>
              <a:t>Title</a:t>
            </a:r>
            <a:endParaRPr lang="en-IN" sz="1800" dirty="0">
              <a:cs typeface="Times New Roman" pitchFamily="16" charset="0"/>
            </a:endParaRPr>
          </a:p>
          <a:p>
            <a:pPr marL="508000" indent="-508000"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>
                <a:cs typeface="Times New Roman" pitchFamily="16" charset="0"/>
              </a:rPr>
              <a:t>Abstract</a:t>
            </a:r>
          </a:p>
          <a:p>
            <a:pPr marL="508000" indent="-508000"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>
                <a:cs typeface="Times New Roman" pitchFamily="16" charset="0"/>
              </a:rPr>
              <a:t>Introduction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/>
              <a:t>Problem Statement</a:t>
            </a:r>
            <a:endParaRPr lang="en-US" sz="1800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/>
              <a:t>System Architecture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/>
              <a:t>Key Features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/>
              <a:t>Tech Stack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 err="1"/>
              <a:t>Liveness</a:t>
            </a:r>
            <a:r>
              <a:rPr lang="en-IN" sz="1800" dirty="0"/>
              <a:t> Detection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/>
              <a:t>Results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800" dirty="0"/>
              <a:t>Future Scope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/>
              <a:t>Conclusion</a:t>
            </a:r>
            <a:endParaRPr lang="en-IN" sz="1800" dirty="0"/>
          </a:p>
        </p:txBody>
      </p:sp>
      <p:sp>
        <p:nvSpPr>
          <p:cNvPr id="7" name="Rectangle 6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79412" y="1066800"/>
            <a:ext cx="10868369" cy="4724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marL="341313" indent="-341313" eaLnBrk="1" hangingPunct="1">
              <a:lnSpc>
                <a:spcPct val="150000"/>
              </a:lnSpc>
              <a:spcBef>
                <a:spcPts val="600"/>
              </a:spcBef>
              <a:buFont typeface="Times New Roman" pitchFamily="16" charset="0"/>
              <a:buBlip>
                <a:blip r:embed="rId3"/>
              </a:buBlip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AttendAI</a:t>
            </a:r>
            <a:r>
              <a:rPr lang="en-US" sz="2400" dirty="0"/>
              <a:t> is an AI-based smart attendance system designed to automate attendance and eliminate proxy fraud.</a:t>
            </a:r>
          </a:p>
          <a:p>
            <a:pPr marL="0" indent="0">
              <a:buNone/>
            </a:pPr>
            <a:r>
              <a:rPr lang="en-US" sz="2400" dirty="0"/>
              <a:t>It uses face recognition for identity verification and </a:t>
            </a:r>
            <a:r>
              <a:rPr lang="en-US" sz="2400" dirty="0" err="1"/>
              <a:t>liveness</a:t>
            </a:r>
            <a:r>
              <a:rPr lang="en-US" sz="2400" dirty="0"/>
              <a:t> detection (blink-based) to ensure the physical presence of students.</a:t>
            </a:r>
          </a:p>
          <a:p>
            <a:pPr marL="0" indent="0">
              <a:buNone/>
            </a:pPr>
            <a:r>
              <a:rPr lang="en-US" sz="2400" dirty="0"/>
              <a:t>The system operates through a browser-based interface, requiring no additional hardware, and performs real-time attendance marking.</a:t>
            </a:r>
          </a:p>
          <a:p>
            <a:pPr marL="0" indent="0">
              <a:buNone/>
            </a:pPr>
            <a:r>
              <a:rPr lang="en-US" sz="2400" dirty="0"/>
              <a:t>Attendance data is securely stored in a cloud database and can be analyzed or exported for reporting.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732176" y="1319213"/>
            <a:ext cx="10868369" cy="4724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marL="341313" indent="-341313" eaLnBrk="1" hangingPunct="1">
              <a:lnSpc>
                <a:spcPct val="150000"/>
              </a:lnSpc>
              <a:spcBef>
                <a:spcPts val="600"/>
              </a:spcBef>
              <a:buFont typeface="Times New Roman" pitchFamily="16" charset="0"/>
              <a:buBlip>
                <a:blip r:embed="rId3"/>
              </a:buBlip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sz="2400" dirty="0"/>
          </a:p>
          <a:p>
            <a:pPr algn="just"/>
            <a:r>
              <a:rPr lang="en-US" sz="2400" dirty="0"/>
              <a:t>Attendance tracking is essential in academic institutions.</a:t>
            </a:r>
          </a:p>
          <a:p>
            <a:pPr algn="just"/>
            <a:r>
              <a:rPr lang="en-US" sz="2400" dirty="0"/>
              <a:t>Traditional methods are manual, time-consuming, and unreliable. </a:t>
            </a:r>
          </a:p>
          <a:p>
            <a:pPr algn="just"/>
            <a:r>
              <a:rPr lang="en-US" sz="2400" dirty="0"/>
              <a:t>Increasing need for automated and secure solutions.</a:t>
            </a:r>
          </a:p>
          <a:p>
            <a:pPr algn="just"/>
            <a:r>
              <a:rPr lang="en-IN" sz="2400" dirty="0"/>
              <a:t>Face recognition enables contactless and efficient attendance.</a:t>
            </a:r>
          </a:p>
          <a:p>
            <a:pPr algn="just"/>
            <a:r>
              <a:rPr lang="en-US" sz="2400" dirty="0" err="1"/>
              <a:t>AttendAI</a:t>
            </a:r>
            <a:r>
              <a:rPr lang="en-US" sz="2400" dirty="0"/>
              <a:t> integrates AI and computer vision for smart attendance.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AutoShape 2" descr="blob:https://web.whatsapp.com/843bc532-0149-4fef-b45b-d5bb965d0cf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blob:https://web.whatsapp.com/843bc532-0149-4fef-b45b-d5bb965d0cf6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blob:https://web.whatsapp.com/843bc532-0149-4fef-b45b-d5bb965d0cf6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 descr="blob:https://web.whatsapp.com/843bc532-0149-4fef-b45b-d5bb965d0cf6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3" name="Picture 9" descr="C:\Users\acer\Downloads\aiflow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212" y="3810000"/>
            <a:ext cx="5805998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732176" y="1319213"/>
            <a:ext cx="10868369" cy="4724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marL="341313" indent="-341313" eaLnBrk="1" hangingPunct="1">
              <a:lnSpc>
                <a:spcPct val="150000"/>
              </a:lnSpc>
              <a:spcBef>
                <a:spcPts val="600"/>
              </a:spcBef>
              <a:buFont typeface="Times New Roman" pitchFamily="16" charset="0"/>
              <a:buBlip>
                <a:blip r:embed="rId3"/>
              </a:buBlip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Manual attendance consumes </a:t>
            </a:r>
            <a:r>
              <a:rPr lang="en-US" b="1" dirty="0"/>
              <a:t>5–10 minutes per class.</a:t>
            </a:r>
          </a:p>
          <a:p>
            <a:r>
              <a:rPr lang="en-US" dirty="0"/>
              <a:t> High risk of </a:t>
            </a:r>
            <a:r>
              <a:rPr lang="en-US" b="1" dirty="0"/>
              <a:t>proxy attendance fraud.</a:t>
            </a:r>
          </a:p>
          <a:p>
            <a:r>
              <a:rPr lang="en-US" dirty="0"/>
              <a:t> Prone to human errors in record keeping.</a:t>
            </a:r>
          </a:p>
          <a:p>
            <a:r>
              <a:rPr lang="en-US" dirty="0"/>
              <a:t> No real-time monitoring or analytics.</a:t>
            </a:r>
          </a:p>
          <a:p>
            <a:r>
              <a:rPr lang="en-US" dirty="0"/>
              <a:t> Inefficient for large classrooms.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050" name="Picture 2" descr="Roll cal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12" y="3200400"/>
            <a:ext cx="4418014" cy="238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732176" y="1319213"/>
            <a:ext cx="10868369" cy="4724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  <a:p>
            <a:pPr marL="341313" indent="-341313" eaLnBrk="1" hangingPunct="1">
              <a:lnSpc>
                <a:spcPct val="150000"/>
              </a:lnSpc>
              <a:spcBef>
                <a:spcPts val="600"/>
              </a:spcBef>
              <a:buFont typeface="Times New Roman" pitchFamily="16" charset="0"/>
              <a:buBlip>
                <a:blip r:embed="rId3"/>
              </a:buBlip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b="1" dirty="0">
              <a:solidFill>
                <a:srgbClr val="000000"/>
              </a:solidFill>
              <a:cs typeface="Times New Roman" pitchFamily="16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sz="2000" dirty="0"/>
          </a:p>
          <a:p>
            <a:r>
              <a:rPr lang="en-IN" dirty="0"/>
              <a:t>Client–Server based architecture.</a:t>
            </a:r>
          </a:p>
          <a:p>
            <a:r>
              <a:rPr lang="en-IN" dirty="0"/>
              <a:t> Browser captures real-time webcam frames.</a:t>
            </a:r>
          </a:p>
          <a:p>
            <a:r>
              <a:rPr lang="en-IN" dirty="0"/>
              <a:t> Flask backend handles API requests.</a:t>
            </a:r>
          </a:p>
          <a:p>
            <a:r>
              <a:rPr lang="en-IN" dirty="0"/>
              <a:t> </a:t>
            </a:r>
            <a:r>
              <a:rPr lang="en-IN" dirty="0" err="1"/>
              <a:t>OpenCV</a:t>
            </a:r>
            <a:r>
              <a:rPr lang="en-IN" dirty="0"/>
              <a:t> performs face detection &amp; recognition.</a:t>
            </a:r>
          </a:p>
          <a:p>
            <a:r>
              <a:rPr lang="en-IN" dirty="0"/>
              <a:t> </a:t>
            </a:r>
            <a:r>
              <a:rPr lang="en-IN" dirty="0" err="1"/>
              <a:t>MediaPipe</a:t>
            </a:r>
            <a:r>
              <a:rPr lang="en-IN" dirty="0"/>
              <a:t> handles </a:t>
            </a:r>
            <a:r>
              <a:rPr lang="en-IN" dirty="0" err="1"/>
              <a:t>liveness</a:t>
            </a:r>
            <a:r>
              <a:rPr lang="en-IN" dirty="0"/>
              <a:t> detection. </a:t>
            </a:r>
          </a:p>
          <a:p>
            <a:r>
              <a:rPr lang="en-IN" dirty="0"/>
              <a:t>Data stored in cloud database (MySQL / </a:t>
            </a:r>
            <a:r>
              <a:rPr lang="en-IN" dirty="0" err="1"/>
              <a:t>Supabase</a:t>
            </a:r>
            <a:r>
              <a:rPr lang="en-IN" dirty="0"/>
              <a:t>).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33053" y="311642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60411" y="1869929"/>
            <a:ext cx="7459093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Multi-frame face registration (20 images)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LBPH-based face recognition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Blink-based </a:t>
            </a:r>
            <a:r>
              <a:rPr kumimoji="0" 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liveness</a:t>
            </a: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detection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Auto continuous scanning (every 3 seconds)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Role-based access (Admin / Faculty / Student)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Analytics dashboard with attendance insights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412" y="533400"/>
            <a:ext cx="26500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kern="0" dirty="0">
                <a:solidFill>
                  <a:srgbClr val="002A7E"/>
                </a:solidFill>
                <a:latin typeface="Calibri" pitchFamily="34" charset="0"/>
                <a:cs typeface="Calibri" pitchFamily="34" charset="0"/>
                <a:sym typeface="Arial" pitchFamily="34" charset="0"/>
              </a:rPr>
              <a:t>KEY FEATURES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815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685800"/>
            <a:ext cx="11212846" cy="5334000"/>
          </a:xfrm>
        </p:spPr>
        <p:txBody>
          <a:bodyPr/>
          <a:lstStyle/>
          <a:p>
            <a:pPr marL="0" lvl="0" indent="0" algn="just">
              <a:buNone/>
            </a:pPr>
            <a:endParaRPr lang="en-US" b="1" dirty="0"/>
          </a:p>
          <a:p>
            <a:r>
              <a:rPr lang="en-IN" b="1" dirty="0"/>
              <a:t>Backend &amp; Processing</a:t>
            </a:r>
            <a:endParaRPr lang="en-IN" dirty="0"/>
          </a:p>
          <a:p>
            <a:r>
              <a:rPr lang="en-IN" dirty="0"/>
              <a:t>Python </a:t>
            </a:r>
          </a:p>
          <a:p>
            <a:r>
              <a:rPr lang="en-IN" dirty="0"/>
              <a:t>Flask (API &amp; server) </a:t>
            </a:r>
          </a:p>
          <a:p>
            <a:r>
              <a:rPr lang="en-IN" dirty="0" err="1"/>
              <a:t>OpenCV</a:t>
            </a:r>
            <a:r>
              <a:rPr lang="en-IN" dirty="0"/>
              <a:t> (Face detection &amp; recognition) </a:t>
            </a:r>
          </a:p>
          <a:p>
            <a:r>
              <a:rPr lang="en-IN" dirty="0" err="1"/>
              <a:t>MediaPipe</a:t>
            </a:r>
            <a:r>
              <a:rPr lang="en-IN" dirty="0"/>
              <a:t> (</a:t>
            </a:r>
            <a:r>
              <a:rPr lang="en-IN" dirty="0" err="1"/>
              <a:t>Liveness</a:t>
            </a:r>
            <a:r>
              <a:rPr lang="en-IN" dirty="0"/>
              <a:t> detection) </a:t>
            </a:r>
          </a:p>
          <a:p>
            <a:r>
              <a:rPr lang="en-IN" b="1" dirty="0"/>
              <a:t>Database &amp; Security</a:t>
            </a:r>
            <a:endParaRPr lang="en-IN" dirty="0"/>
          </a:p>
          <a:p>
            <a:r>
              <a:rPr lang="en-IN" dirty="0"/>
              <a:t>MySQL / </a:t>
            </a:r>
            <a:r>
              <a:rPr lang="en-IN" dirty="0" err="1"/>
              <a:t>Supabase</a:t>
            </a:r>
            <a:r>
              <a:rPr lang="en-IN" dirty="0"/>
              <a:t> (</a:t>
            </a:r>
            <a:r>
              <a:rPr lang="en-IN" dirty="0" err="1"/>
              <a:t>PostgreSQL</a:t>
            </a:r>
            <a:r>
              <a:rPr lang="en-IN" dirty="0"/>
              <a:t>) </a:t>
            </a:r>
          </a:p>
          <a:p>
            <a:r>
              <a:rPr lang="en-IN" dirty="0" err="1"/>
              <a:t>bcrypt</a:t>
            </a:r>
            <a:r>
              <a:rPr lang="en-IN" dirty="0"/>
              <a:t> (Password hashing) </a:t>
            </a:r>
          </a:p>
          <a:p>
            <a:r>
              <a:rPr lang="en-IN" dirty="0" err="1"/>
              <a:t>dotenv</a:t>
            </a:r>
            <a:r>
              <a:rPr lang="en-IN" dirty="0"/>
              <a:t> (Environment configuration) </a:t>
            </a:r>
          </a:p>
          <a:p>
            <a:r>
              <a:rPr lang="en-IN" b="1" dirty="0"/>
              <a:t>Frontend</a:t>
            </a:r>
            <a:endParaRPr lang="en-IN" dirty="0"/>
          </a:p>
          <a:p>
            <a:r>
              <a:rPr lang="en-IN" dirty="0"/>
              <a:t>HTML, CSS, JavaScript (Browser-based UI) </a:t>
            </a:r>
          </a:p>
          <a:p>
            <a:pPr>
              <a:lnSpc>
                <a:spcPct val="200000"/>
              </a:lnSpc>
              <a:buNone/>
            </a:pPr>
            <a:endParaRPr lang="en-US" b="1" dirty="0"/>
          </a:p>
          <a:p>
            <a:pPr>
              <a:lnSpc>
                <a:spcPct val="200000"/>
              </a:lnSpc>
              <a:buNone/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989012" y="1371600"/>
            <a:ext cx="10972800" cy="4953000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800" dirty="0"/>
              <a:t>Uses Eye Aspect Ratio (EAR) for blink detection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/>
              <a:t> EAR measures eye openness using facial landmarks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/>
              <a:t> EAR drops significantly during a blink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/>
              <a:t>Blink verified across consecutive frames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/>
              <a:t>Confirms presence of a live human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/>
              <a:t>Prevents photo/screen-based spoofing</a:t>
            </a:r>
            <a:endParaRPr lang="en-IN" sz="2800" dirty="0"/>
          </a:p>
        </p:txBody>
      </p:sp>
      <p:sp>
        <p:nvSpPr>
          <p:cNvPr id="3" name="Rectangle 2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755412" y="370667"/>
            <a:ext cx="33762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kern="0" dirty="0" err="1">
                <a:solidFill>
                  <a:srgbClr val="002A7E"/>
                </a:solidFill>
                <a:latin typeface="Calibri" pitchFamily="34" charset="0"/>
                <a:cs typeface="Calibri" pitchFamily="34" charset="0"/>
                <a:sym typeface="Arial" pitchFamily="34" charset="0"/>
              </a:rPr>
              <a:t>Liveness</a:t>
            </a:r>
            <a:r>
              <a:rPr lang="en-US" sz="3200" b="1" kern="0" dirty="0">
                <a:solidFill>
                  <a:srgbClr val="002A7E"/>
                </a:solidFill>
                <a:latin typeface="Calibri" pitchFamily="34" charset="0"/>
                <a:cs typeface="Calibri" pitchFamily="34" charset="0"/>
                <a:sym typeface="Arial" pitchFamily="34" charset="0"/>
              </a:rPr>
              <a:t> Detection</a:t>
            </a:r>
            <a:endParaRPr lang="en-IN" dirty="0"/>
          </a:p>
        </p:txBody>
      </p:sp>
      <p:pic>
        <p:nvPicPr>
          <p:cNvPr id="4098" name="Picture 2" descr="Blinking Detection and Counter Mediapipe Eye Tracking Part 1 and 2_开源小助理-开源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3" y="4191000"/>
            <a:ext cx="48006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012" y="2895600"/>
            <a:ext cx="2667000" cy="3109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9437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912812" y="2286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36612" y="6477000"/>
            <a:ext cx="9144000" cy="3487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55412" y="370667"/>
            <a:ext cx="14542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kern="0" dirty="0">
                <a:solidFill>
                  <a:srgbClr val="002A7E"/>
                </a:solidFill>
                <a:latin typeface="Calibri" pitchFamily="34" charset="0"/>
                <a:cs typeface="Calibri" pitchFamily="34" charset="0"/>
                <a:sym typeface="Arial" pitchFamily="34" charset="0"/>
              </a:rPr>
              <a:t>RESULT</a:t>
            </a:r>
            <a:endParaRPr lang="en-IN" dirty="0"/>
          </a:p>
        </p:txBody>
      </p:sp>
      <p:sp>
        <p:nvSpPr>
          <p:cNvPr id="2" name="Title 1"/>
          <p:cNvSpPr>
            <a:spLocks noGrp="1" noChangeArrowheads="1"/>
          </p:cNvSpPr>
          <p:nvPr>
            <p:ph type="ctrTitle"/>
          </p:nvPr>
        </p:nvSpPr>
        <p:spPr bwMode="auto">
          <a:xfrm>
            <a:off x="825925" y="783918"/>
            <a:ext cx="7978466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endParaRPr kumimoji="0" 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~3 seconds per student recognition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~90 seconds for 30 students (auto scanning)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Accurate under normal lighting conditions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Successfully rejects photo/screen spoof attempts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Real-time attendance logging and dashboard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99985" y="40333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70197" y="457200"/>
            <a:ext cx="21034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dirty="0">
                <a:solidFill>
                  <a:srgbClr val="002A7E"/>
                </a:solidFill>
                <a:latin typeface="Calibri" pitchFamily="34" charset="0"/>
                <a:cs typeface="Calibri" pitchFamily="34" charset="0"/>
                <a:sym typeface="Arial" pitchFamily="34" charset="0"/>
              </a:rPr>
              <a:t>FUTURE SCOPE</a:t>
            </a:r>
            <a:endParaRPr lang="en-IN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927" y="1295400"/>
            <a:ext cx="8887429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580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939656" y="1371600"/>
            <a:ext cx="11022155" cy="4876800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600" dirty="0"/>
              <a:t>Successfully automated attendance system </a:t>
            </a:r>
          </a:p>
          <a:p>
            <a:pPr>
              <a:buFont typeface="Wingdings" pitchFamily="2" charset="2"/>
              <a:buChar char="q"/>
            </a:pPr>
            <a:r>
              <a:rPr lang="en-US" sz="2600" dirty="0"/>
              <a:t>Reduced proxy attendance using </a:t>
            </a:r>
            <a:r>
              <a:rPr lang="en-US" sz="2600" dirty="0" err="1"/>
              <a:t>liveness</a:t>
            </a:r>
            <a:r>
              <a:rPr lang="en-US" sz="2600" dirty="0"/>
              <a:t> detection</a:t>
            </a:r>
          </a:p>
          <a:p>
            <a:pPr>
              <a:buFont typeface="Wingdings" pitchFamily="2" charset="2"/>
              <a:buChar char="q"/>
            </a:pPr>
            <a:r>
              <a:rPr lang="en-US" sz="2600" dirty="0"/>
              <a:t> Real-time and efficient performance </a:t>
            </a:r>
          </a:p>
          <a:p>
            <a:pPr>
              <a:buFont typeface="Wingdings" pitchFamily="2" charset="2"/>
              <a:buChar char="q"/>
            </a:pPr>
            <a:r>
              <a:rPr lang="en-US" sz="2600" dirty="0"/>
              <a:t>Scalable and deployable solution</a:t>
            </a:r>
            <a:endParaRPr lang="en-IN" sz="2600" dirty="0"/>
          </a:p>
        </p:txBody>
      </p:sp>
      <p:sp>
        <p:nvSpPr>
          <p:cNvPr id="3" name="Rectangle 2"/>
          <p:cNvSpPr/>
          <p:nvPr/>
        </p:nvSpPr>
        <p:spPr>
          <a:xfrm>
            <a:off x="778130" y="29135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12812" y="2667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811094" y="495300"/>
            <a:ext cx="1890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dirty="0">
                <a:solidFill>
                  <a:srgbClr val="002A7E"/>
                </a:solidFill>
                <a:latin typeface="Calibri" pitchFamily="34" charset="0"/>
                <a:cs typeface="Calibri" pitchFamily="34" charset="0"/>
                <a:sym typeface="Arial" pitchFamily="34" charset="0"/>
              </a:rPr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713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-1373187" y="2644776"/>
            <a:ext cx="10744199" cy="1470025"/>
          </a:xfrm>
        </p:spPr>
        <p:txBody>
          <a:bodyPr/>
          <a:lstStyle/>
          <a:p>
            <a:pPr algn="r"/>
            <a:r>
              <a:rPr lang="en-US" sz="9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60412" y="762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912812" y="228600"/>
            <a:ext cx="3505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36612" y="6477000"/>
            <a:ext cx="9144000" cy="3487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368575"/>
      </p:ext>
    </p:extLst>
  </p:cSld>
  <p:clrMapOvr>
    <a:masterClrMapping/>
  </p:clrMapOvr>
</p:sld>
</file>

<file path=ppt/theme/theme1.xml><?xml version="1.0" encoding="utf-8"?>
<a:theme xmlns:a="http://schemas.openxmlformats.org/drawingml/2006/main" name="ADMISSION PPT AS RECEIVED FROM CHAIRMA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6236</TotalTime>
  <Words>591</Words>
  <Application>Microsoft Office PowerPoint</Application>
  <PresentationFormat>Custom</PresentationFormat>
  <Paragraphs>145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Rounded MT Bold</vt:lpstr>
      <vt:lpstr>Calibri</vt:lpstr>
      <vt:lpstr>DejaVu Sans</vt:lpstr>
      <vt:lpstr>Times New Roman</vt:lpstr>
      <vt:lpstr>Wingdings</vt:lpstr>
      <vt:lpstr>ADMISSION PPT AS RECEIVED FROM CHAIRMAN</vt:lpstr>
      <vt:lpstr>PowerPoint Presentation</vt:lpstr>
      <vt:lpstr>Contents</vt:lpstr>
      <vt:lpstr>ABSTRACT</vt:lpstr>
      <vt:lpstr>INTRODUCTION</vt:lpstr>
      <vt:lpstr>PROBLEM STATEMENT</vt:lpstr>
      <vt:lpstr>SYSTEM ARCHITECTURE</vt:lpstr>
      <vt:lpstr>PowerPoint Presentation</vt:lpstr>
      <vt:lpstr>TECH STACK</vt:lpstr>
      <vt:lpstr>PowerPoint Presentation</vt:lpstr>
      <vt:lpstr> ~3 seconds per student recognition  ~90 seconds for 30 students (auto scanning)  Accurate under normal lighting conditions  Successfully rejects photo/screen spoof attempts  Real-time attendance logging and dashboard 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TECHNICAL SEMINAR  ON  CARBON NANOTUBE</dc:title>
  <dc:creator>Surjyo</dc:creator>
  <cp:lastModifiedBy>sahusubham38632@gmail.com</cp:lastModifiedBy>
  <cp:revision>713</cp:revision>
  <cp:lastPrinted>1601-01-01T00:00:00Z</cp:lastPrinted>
  <dcterms:created xsi:type="dcterms:W3CDTF">2005-01-24T10:28:59Z</dcterms:created>
  <dcterms:modified xsi:type="dcterms:W3CDTF">2026-05-07T12:10:23Z</dcterms:modified>
</cp:coreProperties>
</file>